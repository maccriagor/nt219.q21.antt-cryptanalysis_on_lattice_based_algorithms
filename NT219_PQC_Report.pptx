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Trebuchet MS"/>
              </a:rPr>
              <a:t>ML-KEM (µs, median)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Keygen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ML-KEM-512</c:v>
                  </c:pt>
                  <c:pt idx="1">
                    <c:v>ML-KEM-768</c:v>
                  </c:pt>
                  <c:pt idx="2">
                    <c:v>ML-KEM-1024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58</c:v>
                </c:pt>
                <c:pt idx="2">
                  <c:v>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Encaps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ML-KEM-512</c:v>
                  </c:pt>
                  <c:pt idx="1">
                    <c:v>ML-KEM-768</c:v>
                  </c:pt>
                  <c:pt idx="2">
                    <c:v>ML-KEM-1024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62</c:v>
                </c:pt>
                <c:pt idx="2">
                  <c:v>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Decaps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ML-KEM-512</c:v>
                  </c:pt>
                  <c:pt idx="1">
                    <c:v>ML-KEM-768</c:v>
                  </c:pt>
                  <c:pt idx="2">
                    <c:v>ML-KEM-1024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42</c:v>
                </c:pt>
                <c:pt idx="1">
                  <c:v>72</c:v>
                </c:pt>
                <c:pt idx="2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Trebuchet MS"/>
              </a:rPr>
              <a:t>ML-DSA (µs, median)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Keygen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ML-DSA-44</c:v>
                  </c:pt>
                  <c:pt idx="1">
                    <c:v>ML-DSA-65</c:v>
                  </c:pt>
                  <c:pt idx="2">
                    <c:v>ML-DSA-87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168</c:v>
                </c:pt>
                <c:pt idx="2">
                  <c:v>267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Sign (median)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ML-DSA-44</c:v>
                  </c:pt>
                  <c:pt idx="1">
                    <c:v>ML-DSA-65</c:v>
                  </c:pt>
                  <c:pt idx="2">
                    <c:v>ML-DSA-87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315</c:v>
                </c:pt>
                <c:pt idx="1">
                  <c:v>454</c:v>
                </c:pt>
                <c:pt idx="2">
                  <c:v>563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Verify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ML-DSA-44</c:v>
                  </c:pt>
                  <c:pt idx="1">
                    <c:v>ML-DSA-65</c:v>
                  </c:pt>
                  <c:pt idx="2">
                    <c:v>ML-DSA-87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83</c:v>
                </c:pt>
                <c:pt idx="1">
                  <c:v>139</c:v>
                </c:pt>
                <c:pt idx="2">
                  <c:v>239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Trebuchet MS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Trebuchet MS"/>
              </a:rPr>
              <a:t>ML-KEM-1024 — reference-C vs AVX2 (µs)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reference-C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Keygen</c:v>
                  </c:pt>
                  <c:pt idx="1">
                    <c:v>Encaps</c:v>
                  </c:pt>
                  <c:pt idx="2">
                    <c:v>Decaps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83</c:v>
                </c:pt>
                <c:pt idx="2">
                  <c:v>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AVX2 (OpenSSL native)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Keygen</c:v>
                  </c:pt>
                  <c:pt idx="1">
                    <c:v>Encaps</c:v>
                  </c:pt>
                  <c:pt idx="2">
                    <c:v>Decaps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</c:v>
                </c:pt>
                <c:pt idx="1">
                  <c:v>22</c:v>
                </c:pt>
                <c:pt idx="2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Trebuchet MS"/>
              </a:rPr>
              <a:t>Cortex-A72 — ref-C vs NEON (µs, MÔ HÌNH)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reference-C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ML-KEM enc</c:v>
                  </c:pt>
                  <c:pt idx="1">
                    <c:v>ML-KEM dec</c:v>
                  </c:pt>
                  <c:pt idx="2">
                    <c:v>ML-DSA-87 verify</c:v>
                  </c:pt>
                  <c:pt idx="3">
                    <c:v>ML-DSA-87 sign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382</c:v>
                </c:pt>
                <c:pt idx="1">
                  <c:v>431</c:v>
                </c:pt>
                <c:pt idx="2">
                  <c:v>1076</c:v>
                </c:pt>
                <c:pt idx="3">
                  <c:v>2702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NEON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ML-KEM enc</c:v>
                  </c:pt>
                  <c:pt idx="1">
                    <c:v>ML-KEM dec</c:v>
                  </c:pt>
                  <c:pt idx="2">
                    <c:v>ML-DSA-87 verify</c:v>
                  </c:pt>
                  <c:pt idx="3">
                    <c:v>ML-DSA-87 sign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182</c:v>
                </c:pt>
                <c:pt idx="1">
                  <c:v>187</c:v>
                </c:pt>
                <c:pt idx="2">
                  <c:v>598</c:v>
                </c:pt>
                <c:pt idx="3">
                  <c:v>1589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NT219 — CRYPTOGRAPHY &amp; APPLICATIONS · ĐỒ ÁN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Triển khai &amp; Đo hiệu năng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Mật mã Hậu lượng tử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(FIPS 203) · ML-DSA (FIPS 204)  vs  RSA / ECC — TLS 1.3 PQC trên x86 &amp; ARM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0A1230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634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OpenSSL 3.6.1 native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466344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0A1230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46634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Cat 1/3/5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466344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0A1230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46634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 9/9 PASS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15400" y="466344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0A1230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0" y="46634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X25519MLKEM768 + ML-DSA-65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8978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x86 = ĐO THẬT (i5-12450HX) · Số ARM/năng lượng/netem = MÔ HÌNH (ghi rõ)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YÊU CẦU GÌ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Hai nhóm yêu cầu: kỹ thuật (đề tài) + hệ thống (rubric)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109728" cy="4663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Kỹ thuật — đề tài (file 05)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7548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+ tối ưu + ĐO ML-KEM (KEM) &amp; ML-DSA (chữ ký)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RSA / ECDSA / ECDH ở mức bảo mật khớp Cat 1/3/5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nền tảng: x86_64 và ARM (Cortex-A72)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Microbench: keygen / encaps / decaps / sign / verify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Macrobench: TLS 1.3 handshake + bộ nhớ / kích thước / năng lượng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3 câu hỏi nghiên cứu RQ1 / RQ2 / RQ3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91072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91072" y="1554480"/>
            <a:ext cx="109728" cy="4663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Hệ thống — rubric (NT2205)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11112" y="2331720"/>
            <a:ext cx="47548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Asset-centric: danh mục tài sản A1–A5 + ràng buộc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mật mã 3 lớp onion: Cryptography / AuthN / AuthZ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kịch bản triển khai độc lập (x86 + ARM)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+ mục tiêu bảo vệ định lượng (SMART G1–G13)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I1–I7 + đánh giá định lượng (E-Crypto/N/Z)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cố định thuật toán lỗi thời (PQC native, bỏ OQS-fork)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GÌ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Bao phủ Work Packages — sản phẩm cụ thể từng phần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32104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WP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Sản phẩm cụ thể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Trạng thái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WP0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Lý thuyết · lit review · threat model · SMART · asset A1–A5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xong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WP1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Môi trường Docker + OpenSSL 3.6.1 native (vendored, x86 + ARM)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xong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WP2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Hàm đo tự viết (OpenSSL EVP) · microbench x86 · KAT 9/9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xong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WP3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AVX2 vs reference-C (đo thật) · NEON trên ARM (mô hình)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một phần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WP4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1.3 PQC handshake THẬT: X25519MLKEM768 + cert ML-DSA-65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xong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WP5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Kiến trúc onion 3 lớp + ánh xạ PQC + invariants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xong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WP6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size · peak RSS (đo thật) · năng lượng (mô hình)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một phần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WP7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Thống kê · 8 biểu đồ · trả lời RQ1/2/3 · bộ tài liệu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xong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6/8 WP hoàn tất; 2 WP một phần (NEON &amp; năng lượng là MÔ HÌNH — chờ chạy thật trên Pi).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&amp; MÔI TRƯỜNG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Đo đúng đắn, tái lập, và liêm chính dữ liệu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310896" cy="310896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1755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Môi trường (WP1)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267712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3.6.1 native — ML-KEM/ML-DSA built-in</a:t>
            </a:r>
            <a:endParaRPr lang="en-US" sz="118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OQS-OpenSSL fork (đã archived)</a:t>
            </a:r>
            <a:endParaRPr lang="en-US" sz="118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nguồn vendored (mạng hạn chế)</a:t>
            </a:r>
            <a:endParaRPr lang="en-US" sz="118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PQClean reference-C cho bản đối chứng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6291072" y="1554480"/>
            <a:ext cx="544068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181051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004304" y="1755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Hàm đo tự viết (WP2)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83680" y="2267712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EVP API (Q_keygen, encapsulate, DigestSign)</a:t>
            </a:r>
            <a:endParaRPr lang="en-US" sz="118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đa mức 1/3/5; cổng ĐÚNG ĐẮN trước khi đo</a:t>
            </a:r>
            <a:endParaRPr lang="en-US" sz="118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mẫu/mức · median + p95 + CI95</a:t>
            </a:r>
            <a:endParaRPr lang="en-US" sz="118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rdtsc cycles + CLOCK_MONOTONIC_RAW · ghim core 0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544068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206240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872" y="415137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Hai nền tảng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1248" y="46634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x86: Intel i5-12450HX, AVX2 — ĐO THẬT</a:t>
            </a:r>
            <a:endParaRPr lang="en-US" sz="118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ARM: Cortex-A72 (Pi 4), NEON — MÔ HÌNH</a:t>
            </a:r>
            <a:endParaRPr lang="en-US" sz="118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theo mức bảo mật NIST khớp nhau</a:t>
            </a:r>
            <a:endParaRPr lang="en-US" sz="118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 9/9 PASS (tin số đo)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291072" y="3950208"/>
            <a:ext cx="544068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5392" y="4206240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7004304" y="415137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Liêm chính dữ liệu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83680" y="46634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= MEASURED (đo trên phần cứng)</a:t>
            </a:r>
            <a:endParaRPr lang="en-US" sz="118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/ năng lượng / netem = MODELED</a:t>
            </a:r>
            <a:endParaRPr lang="en-US" sz="118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mô hình = số thật × hệ số có trích dẫn</a:t>
            </a:r>
            <a:endParaRPr lang="en-US" sz="118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file mô hình có dòng # MODELED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GIẢI PHÁP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Onion 3 lớp trong — PQC ở lõi Cryptography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97280" y="187452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E8EE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984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Authentication — cert ML-DSA-65 (xác thực server / mTLS)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91640" y="237744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DBEA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2487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Authorization — token ký ML-DSA (RBAC → ABAC)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288036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A5F3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9900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Cryptography — ML-KEM (KEX hybrid) + AES-256-GCM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80360" y="3474720"/>
            <a:ext cx="1554480" cy="100584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347472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5989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 ──TLS 1.3 hybrid──▶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600200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0" y="1828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Ánh xạ PQC vào 3 lớp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377440"/>
            <a:ext cx="9144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516368" y="2359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Cryptography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16368" y="272491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trao khóa (hybrid X25519MLKEM768) · AES-256-GCM bảo vệ dữ liệu (AEAD)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3584448"/>
            <a:ext cx="91440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7516368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516368" y="3931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chỉ server ký ML-DSA-65 · mTLS dịch vụ (CA ML-DSA)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0" y="4791456"/>
            <a:ext cx="9144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7516368" y="4773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Authorization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16368" y="51389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(JWT) ký ML-DSA · pin alg · PoP-bound · deny-by-default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BẢO MẬT &amp; MỤC TIÊU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model → giảm thiểu → mục tiêu định lượng (SMART)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492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Đe dọa chính → Giảm thiểu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82296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3134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Harvest-now, decrypt-later (HNDL)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260604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KEX hybrid X25519MLKEM768 — an toàn nếu 1 nhánh còn vững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108960"/>
            <a:ext cx="82296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0906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phá RSA/ECC (lượng tử)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ML-KEM + ML-DSA (Module-LWE / SIS)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3886200"/>
            <a:ext cx="82296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86791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 giảm ½ đối xứng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41605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Category 5 ⇒ AES-256-GCM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4663440"/>
            <a:ext cx="82296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64515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 / cấu hình sai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51560" y="493776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Chỉ TLS 1.3 + nhóm hybrid/x25519 · pin alg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5440680"/>
            <a:ext cx="82296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4223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ciphertext/chữ ký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1560" y="571500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AEAD tag + ML-DSA verify → từ chối + log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223760" y="1554480"/>
            <a:ext cx="4389120" cy="4663440"/>
          </a:xfrm>
          <a:prstGeom prst="roundRect">
            <a:avLst>
              <a:gd name="adj" fmla="val 1667"/>
            </a:avLst>
          </a:prstGeom>
          <a:solidFill>
            <a:srgbClr val="0F1B3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Mục tiêu SMART đã ĐẠT (đo thật)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498080" y="237744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5320" y="23317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vẹn: KAT 9/9 PASS · tamper-reject 100%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98080" y="329184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3291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75320" y="32461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hậu lượng tử: nhóm X25519MLKEM768 + cert mldsa65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98080" y="420624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4206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G13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75320" y="41605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handshake hybrid ≈ 9% (≤ 10%) — server chấp nhận được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498080" y="5120640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5120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75320" y="50749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Kháng lượng tử / HNDL: KEX hybrid hoạt động thật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· WP2 (X86 ĐO THẬT)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Microbenchmark PQC reference-C — latency theo mức NIST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126480" y="160020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FIPS 203/204: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512/768/1024 pk = 800/1184/1568 B, ct = 768/1088/1568 B · ML-DSA-87 pk = 2592 B, sig = 4627 B  —  khớp chính xác.   </a:t>
            </a:r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 9/9 PASS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trước khi tin số đo.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· YẾU TỐ ẢNH HƯỞNG (X86 ĐO THẬT)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Mức tối ưu SIMD quan trọng hơn mức tham số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126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828800"/>
            <a:ext cx="45720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223760" y="193852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1.8×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869680" y="1938528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Keygen nhanh hơn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 vector hoá AVX2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040880" y="3200400"/>
            <a:ext cx="45720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23760" y="331012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3.8×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8869680" y="3310128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 nhanh hơn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 vector hoá AVX2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040880" y="4572000"/>
            <a:ext cx="45720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23760" y="468172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2.7×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8869680" y="4681728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Decaps nhanh hơn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 vector hoá AVX2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Tối ưu SIMD (AVX2 / NEON) cho 1.8–3.8× — yếu tố lớn nhất; tham số chỉ tăng đều theo mức.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· PQC VS CỔ ĐIỂN (CAT 5)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Rẻ hơn nhiều về tính toán — đắt hơn nhiều về băng thông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3520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22×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9808" y="2633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nhanh hơn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971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KEM: ML-KEM-1024 (57 µs) vs ECDH-P-521 (1284 µs)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1104" y="16459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61104" y="1645920"/>
            <a:ext cx="352044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443984" y="1874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210×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462272" y="2633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nhanh hơn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62272" y="2971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Sign: ML-DSA-87 (563 µs) vs RSA-15360 (177 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73568" y="16459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73568" y="1645920"/>
            <a:ext cx="352044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8156448" y="1874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78 000×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174736" y="2633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nhanh hơn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74736" y="29718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Keygen sig: ML-DSA-87 (267 µs) vs RSA-15360 (15.7 s!)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794760"/>
            <a:ext cx="352044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23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33×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49808" y="4782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LỚN hơn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9808" y="5120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ký: ML-DSA-87 (4627 B) vs ECDSA-P-521 (139 B)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61104" y="37947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61104" y="3794760"/>
            <a:ext cx="352044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443984" y="4023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24×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4462272" y="4782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LỚN hơn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62272" y="5120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 ciphertext: ML-KEM-1024 (1568 B) vs ECDH (66 B)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73568" y="3794760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0F1B3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18388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E8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Trade-off cốt lõi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183880" y="4370832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ở Cat 5 RẺ hơn nhiều về CPU (đặc biệt so RSA-15360 bất khả thi) nhưng ĐẮT hơn nhiều về băng thông (khóa/chữ ký lớn) — chi phí thật của migration.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· ARM CORTEX-A72 + NEON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NEON khả thi hoá PQC trên Raspberry Pi 4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052560" y="5029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052560" y="502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SỐ MÔ HÌNH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69164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73736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266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Diễn giải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237744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kéo tốc độ ~1.7–2.3×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về ~0.18 ms/op, ML-DSA-87 verify ~0.6 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cho TLS server-class trên SBC (hàng trăm hs/giây)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không có ARMv8 crypto-ext (BCM2711) → ~22× chậm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hình: arm = x86ref × 4.6; cần chạy THẬT trên Pi để chốt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· TLS 1.3 PQC HANDSHAKE (X86 ĐO THẬT)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Overhead chấp nhận được — chi phí thật là kích thước cert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583680" cy="1691640"/>
          </a:xfrm>
          <a:prstGeom prst="roundRect">
            <a:avLst>
              <a:gd name="adj" fmla="val 4324"/>
            </a:avLst>
          </a:prstGeom>
          <a:solidFill>
            <a:srgbClr val="0F1B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3.6.1 native · s_server ↔ s_client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Negotiated TLS1.3 group: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X25519MLKEM768
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Peer signature type: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mldsa65
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Protocol: TLSv1.3   Cipher: TLS_AES_256_GCM_SHA384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65836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00200"/>
                <a:gridCol w="1417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Cấu hình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Throughput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Cert on-wire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Cổ điển (ECDHE-P256 + ECDSA)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2118 hs/s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534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PQC hybrid (X25519MLKEM768 + ML-DSA-65)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1934 hs/s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7464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Chênh lệch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9% overhead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14× lớn hơn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60920" y="1600200"/>
            <a:ext cx="4251960" cy="452628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35240" y="1810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Trả lời RQ3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35240" y="228600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CPU chỉ ~9% — KEM hậu lượng tử rẻ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thật: cert ML-DSA lớn (~14×) → ~10.8 KB / 8 gói on-wire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Nhạy hơn dưới mất gói / MTU nhỏ (ma trận netem — MÔ HÌNH)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 hybrid PQC KHẢ DỤNG cho server (đạt G13 / I7)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KHOA HỌC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ML-DSA Sign lệch phải — rejection sampling (Fiat–Shamir-with-aborts)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ML-DSA-87 Sign (x86, đo thật)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5074920"/>
            <a:ext cx="4846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636008"/>
            <a:ext cx="316875" cy="4389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1287194" y="3758184"/>
            <a:ext cx="316875" cy="131673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1659988" y="2880360"/>
            <a:ext cx="316875" cy="2194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2032782" y="3172968"/>
            <a:ext cx="316875" cy="19019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2405575" y="3831336"/>
            <a:ext cx="316875" cy="1243584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13" name="Shape 11"/>
          <p:cNvSpPr/>
          <p:nvPr/>
        </p:nvSpPr>
        <p:spPr>
          <a:xfrm>
            <a:off x="2778369" y="4270248"/>
            <a:ext cx="316875" cy="804672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14" name="Shape 12"/>
          <p:cNvSpPr/>
          <p:nvPr/>
        </p:nvSpPr>
        <p:spPr>
          <a:xfrm>
            <a:off x="3151163" y="4562856"/>
            <a:ext cx="316875" cy="512064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15" name="Shape 13"/>
          <p:cNvSpPr/>
          <p:nvPr/>
        </p:nvSpPr>
        <p:spPr>
          <a:xfrm>
            <a:off x="3523957" y="4782312"/>
            <a:ext cx="316875" cy="292608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16" name="Shape 14"/>
          <p:cNvSpPr/>
          <p:nvPr/>
        </p:nvSpPr>
        <p:spPr>
          <a:xfrm>
            <a:off x="3896751" y="4855464"/>
            <a:ext cx="316875" cy="219456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17" name="Shape 15"/>
          <p:cNvSpPr/>
          <p:nvPr/>
        </p:nvSpPr>
        <p:spPr>
          <a:xfrm>
            <a:off x="4269545" y="4928616"/>
            <a:ext cx="316875" cy="146304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18" name="Shape 16"/>
          <p:cNvSpPr/>
          <p:nvPr/>
        </p:nvSpPr>
        <p:spPr>
          <a:xfrm>
            <a:off x="4642338" y="4965192"/>
            <a:ext cx="316875" cy="109728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19" name="Shape 17"/>
          <p:cNvSpPr/>
          <p:nvPr/>
        </p:nvSpPr>
        <p:spPr>
          <a:xfrm>
            <a:off x="5015132" y="5001768"/>
            <a:ext cx="316875" cy="73152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20" name="Shape 18"/>
          <p:cNvSpPr/>
          <p:nvPr/>
        </p:nvSpPr>
        <p:spPr>
          <a:xfrm>
            <a:off x="5387926" y="5016398"/>
            <a:ext cx="316875" cy="58522"/>
          </a:xfrm>
          <a:prstGeom prst="rect">
            <a:avLst/>
          </a:prstGeom>
          <a:solidFill>
            <a:srgbClr val="BAE6FD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4560" y="2880360"/>
            <a:ext cx="0" cy="2194560"/>
          </a:xfrm>
          <a:prstGeom prst="line">
            <a:avLst/>
          </a:prstGeom>
          <a:noFill/>
          <a:ln w="19050">
            <a:solidFill>
              <a:srgbClr val="16A34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554480" y="26243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563 µs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97680" y="2880360"/>
            <a:ext cx="0" cy="219456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657600" y="26243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~1.53 ms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400" y="51480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mỗi lần ký (µs) 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169164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Ý nghĩa đo lường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24231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lần ký lặp đến khi mẫu hợp lệ ⇒ thời gian biến thiên mạnh, lệch phải.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 563 µs · p95 ~1.53 ms · max ~2.25 ms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Bắt buộc báo cáo median + p95, KHÔNG dùng mean (sai lệch).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Khớp đặc tính trong paper CRYSTALS-Dilithium ⇒ phương pháp đo đúng.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LÀM VS YÊU CẦU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Đối chiếu + invariants + liêm chính dữ liệu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760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Invariant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Bài đo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Trạng thái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 plaintext leak 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E-C1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ĐO THẬT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 tamper rejected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E-C3 · KAT 9/9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ĐO THẬT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I3 data-origin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E-C3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ĐO THẬT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I4 AuthN + PoP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E-N1 / E-Z2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một phần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I5 explainability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E-Z1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◻ kế hoạch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I6 key ops (rotate)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E-N2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◻ kế hoạch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I7 PQC-ready + perf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E-N1 · RQ3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ĐO THẬT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64592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122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Liêm chính dữ liệu (khoa học)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12280" y="2423160"/>
            <a:ext cx="452628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0" y="25603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THẬT (x86, i5-12450HX)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ref-C &amp; AVX2 · cổ điển · KAT · TLS handshake · code size · RSS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12280" y="3931920"/>
            <a:ext cx="4526280" cy="1371600"/>
          </a:xfrm>
          <a:prstGeom prst="roundRect">
            <a:avLst>
              <a:gd name="adj" fmla="val 533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40690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(ước lượng có trích dẫn)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Cortex-A72 · NEON · năng lượng · ma trận netem — số thật × hệ số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12280" y="5440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số mô hình nào bị trình bày như số đo (DATA_PROVENANCE.md).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868680"/>
            <a:ext cx="155448" cy="1554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1024128" y="8046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PQC khả dụng thực tế — rẻ về tính toán, đắt về băng thông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96012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2103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ở Cat 5 rẻ hơn cổ điển (KEM 22×, sign 210× vs RSA-15360); yếu tố lớn nhất là tối ưu SIMD (AVX2/NEON 1.8–3.8×). Nhưng chữ ký/khóa lớn hơn 24–33×.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3200400"/>
            <a:ext cx="960120" cy="5486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0040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3154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kéo PQC trên Cortex-A72 về ~0.18 ms (KEM) / ~0.6 ms (ML-DSA verify) → khả thi cho edge/SBC. (Số ARM là MÔ HÌNH — cần đo thật trên Pi.)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4251960"/>
            <a:ext cx="960120" cy="548640"/>
          </a:xfrm>
          <a:prstGeom prst="roundRect">
            <a:avLst>
              <a:gd name="adj" fmla="val 16667"/>
            </a:avLst>
          </a:prstGeom>
          <a:solidFill>
            <a:srgbClr val="67E8F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5196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RQ3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420624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Handshake hybrid TLS 1.3 overhead ~9% throughput — chấp nhận được; chi phí thật là cert PQC ~14×, đáng lưu ý khi mạng kém.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5440680"/>
            <a:ext cx="10607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623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ứng đề tài 05 + rubric NT2205.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tiếp: chạy THẬT trên Pi (thay số ARM mô hình), đo năng lượng vật lý, build Apache PQC + netem 2-host.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PQC Implementation &amp; Benchmark</dc:title>
  <dc:subject>PptxGenJS Presentation</dc:subject>
  <dc:creator>NT219</dc:creator>
  <cp:lastModifiedBy>NT219</cp:lastModifiedBy>
  <cp:revision>1</cp:revision>
  <dcterms:created xsi:type="dcterms:W3CDTF">2026-06-02T03:11:23Z</dcterms:created>
  <dcterms:modified xsi:type="dcterms:W3CDTF">2026-06-02T03:11:23Z</dcterms:modified>
</cp:coreProperties>
</file>